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d8a7d001-7e27-6af8-cff9-570711fc50da}">
          <p14:sldIdLst>
            <p14:sldId id="256"/>
          </p14:sldIdLst>
        </p14:section>
        <p14:section name="Problema" id="{7b9812ac-193f-aa6f-869d-a1b9c9a86dd3}">
          <p14:sldIdLst>
            <p14:sldId id="257"/>
          </p14:sldIdLst>
        </p14:section>
        <p14:section name="Solução" id="{2ef85710-408f-fd12-e0a8-dc957431e54c}">
          <p14:sldIdLst>
            <p14:sldId id="258"/>
          </p14:sldIdLst>
        </p14:section>
        <p14:section name="Arquitetura" id="{f3b210d2-bd6e-a7ce-cfd7-6b55f3042b90}">
          <p14:sldIdLst>
            <p14:sldId id="259"/>
            <p14:sldId id="260"/>
          </p14:sldIdLst>
        </p14:section>
        <p14:section name="Demonstração" id="{fda469a2-ca69-cd18-ebfe-0b1e26b902d7}">
          <p14:sldIdLst>
            <p14:sldId id="261"/>
            <p14:sldId id="262"/>
          </p14:sldIdLst>
        </p14:section>
        <p14:section name="Fechamento" id="{73dde60a-3227-295b-4663-bd57c9da2fd5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Apresentamos a plataforma que lê apólices de D&amp;O, estrutura as cláusulas com IA e compara documentos de seguradoras diferentes. Projeto final do curso InsurMinds, grupo Squad 4one.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custo não é só tempo: é assimetria de informação. As diferenças que importam estão nas cláusulas, e são justamente as mais caras de 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capacidades: ler, padronizar e comparar. O diferencial está em padronizar documentos heterogêneos.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fluxo segue as sete etapas do enunciado. Cada agente é substituível sem afetar os demais.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divisão é a decisão central do projeto: o modelo faz o que só ele faz bem, e o que precisa ser reproduzível fica em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vêm de uma execução real: três apólices, 17 campos, 12 divergências. A tabela mostra os campos que mais pesam na decisão.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Auditabilidade é requisito, não enfeite: ninguém assume risco com base em extração que não dá para conferir.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Reconhecer limites é parte do projeto: o que fica de fora está documentado no relatório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o que entregamos e onde encontrar. Obrigado.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97764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7E8D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36454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4"/>
                </a:solidFill>
              </a:rPr>
              <a:t>InsurMinds - Projeto Final | Squad 4one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Plataforma Inteligente para Análise e Comparação de Apólices D&amp;O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9776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7E8D1"/>
                </a:solidFill>
              </a:rPr>
              <a:t>InsurMinds · Projeto Final · Instituto de Inteligência Artificial Aplicada (I2A2)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Grupo Squad 4one</a:t>
            </a:r>
            <a:endParaRPr lang="en-US" sz="1600" dirty="0"/>
          </a:p>
        </p:txBody>
      </p:sp>
      <p:sp>
        <p:nvSpPr>
          <p:cNvPr id="4" name="marca-capa"/>
          <p:cNvSpPr/>
          <p:nvPr/>
        </p:nvSpPr>
        <p:spPr>
          <a:xfrm>
            <a:off x="822960" y="1874520"/>
            <a:ext cx="1280160" cy="822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454F"/>
                </a:solidFill>
              </a:rPr>
              <a:t>Comparar duas apólices é trabalho manual de especialista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716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</a:rPr>
              <a:t>Apólices de D&amp;O são documentos longos, em linguagem jurídica, e cada seguradora organiza as mesmas informações de um jeito diferente. Responder "qual tem maior retroatividade" exige ler os dois documentos inteiros.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468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5042"/>
                </a:solidFill>
              </a:rPr>
              <a:t>4 h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6454F"/>
                </a:solidFill>
              </a:rPr>
              <a:t>tempo típico de leitura e comparação de duas apólices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434840" y="2468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5042"/>
                </a:solidFill>
              </a:rPr>
              <a:t>30+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6454F"/>
                </a:solidFill>
              </a:rPr>
              <a:t>cláusulas relevantes espalhadas por seções distintas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2468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5042"/>
                </a:solidFill>
              </a:rPr>
              <a:t>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6454F"/>
                </a:solidFill>
              </a:rPr>
              <a:t>padronização entre seguradoras para os mesmos campos</a:t>
            </a:r>
            <a:endParaRPr lang="en-US" sz="1300" dirty="0"/>
          </a:p>
        </p:txBody>
      </p:sp>
      <p:sp>
        <p:nvSpPr>
          <p:cNvPr id="10" name="consequencia"/>
          <p:cNvSpPr/>
          <p:nvPr/>
        </p:nvSpPr>
        <p:spPr>
          <a:xfrm>
            <a:off x="685800" y="4663440"/>
            <a:ext cx="10789920" cy="1143000"/>
          </a:xfrm>
          <a:prstGeom prst="roundRect">
            <a:avLst>
              <a:gd name="adj" fmla="val 64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489204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</a:rPr>
              <a:t>A consequência: </a:t>
            </a:r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</a:rPr>
              <a:t>quem compara às pressas decide pelo prêmio e pelo limite — os campos fáceis de achar — e descobre as diferenças de cláusula no momento do sinistro.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454F"/>
                </a:solidFill>
              </a:rPr>
              <a:t>De documento jurídico a quadro comparativo auditável</a:t>
            </a:r>
            <a:endParaRPr lang="en-US" sz="3200" dirty="0"/>
          </a:p>
        </p:txBody>
      </p:sp>
      <p:sp>
        <p:nvSpPr>
          <p:cNvPr id="3" name="cartao-Lê qualquer documento"/>
          <p:cNvSpPr/>
          <p:nvPr/>
        </p:nvSpPr>
        <p:spPr>
          <a:xfrm>
            <a:off x="68580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bola-Lê qualquer documento"/>
          <p:cNvSpPr/>
          <p:nvPr/>
        </p:nvSpPr>
        <p:spPr>
          <a:xfrm>
            <a:off x="960120" y="1856232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56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81912" y="18745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</a:rPr>
              <a:t>Lê qualquer documento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688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6454F"/>
                </a:solidFill>
              </a:rPr>
              <a:t>PDF nativo ou digitalizado. O OCR é acionado página a página, só onde falta texto — e o método usado fica registrado.</a:t>
            </a:r>
            <a:endParaRPr lang="en-US" sz="1300" dirty="0"/>
          </a:p>
        </p:txBody>
      </p:sp>
      <p:sp>
        <p:nvSpPr>
          <p:cNvPr id="8" name="cartao-Padroniza com IA"/>
          <p:cNvSpPr/>
          <p:nvPr/>
        </p:nvSpPr>
        <p:spPr>
          <a:xfrm>
            <a:off x="4407408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bola-Padroniza com IA"/>
          <p:cNvSpPr/>
          <p:nvPr/>
        </p:nvSpPr>
        <p:spPr>
          <a:xfrm>
            <a:off x="4681728" y="1856232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81728" y="1856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8745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</a:rPr>
              <a:t>Padroniza com IA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24688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6454F"/>
                </a:solidFill>
              </a:rPr>
              <a:t>O Gemini devolve JSON aderente a um schema validado, com o trecho do documento que sustenta cada campo extraído.</a:t>
            </a:r>
            <a:endParaRPr lang="en-US" sz="1300" dirty="0"/>
          </a:p>
        </p:txBody>
      </p:sp>
      <p:sp>
        <p:nvSpPr>
          <p:cNvPr id="13" name="cartao-Compara e justifica"/>
          <p:cNvSpPr/>
          <p:nvPr/>
        </p:nvSpPr>
        <p:spPr>
          <a:xfrm>
            <a:off x="813816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bola-Compara e justifica"/>
          <p:cNvSpPr/>
          <p:nvPr/>
        </p:nvSpPr>
        <p:spPr>
          <a:xfrm>
            <a:off x="8412480" y="1856232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1856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034272" y="18745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</a:rPr>
              <a:t>Compara e justifica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4688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6454F"/>
                </a:solidFill>
              </a:rPr>
              <a:t>Quadro campo a campo, cláusulas exclusivas de cada apólice e sumário executivo com os trade-offs.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1605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</a:rPr>
              <a:t>O que o usuário recebe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572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Quadro comparativo campo a campo, com a direção de cada diferença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Lista de coberturas e exclusões presentes em apenas uma das apólices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Sumário executivo em linguagem de negócio, e consulta livre sobre os documentos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454F"/>
                </a:solidFill>
              </a:rPr>
              <a:t>Sete agentes, cada um com uma responsabilidade</a:t>
            </a:r>
            <a:endParaRPr lang="en-US" sz="3200" dirty="0"/>
          </a:p>
        </p:txBody>
      </p:sp>
      <p:sp>
        <p:nvSpPr>
          <p:cNvPr id="3" name="agente-1"/>
          <p:cNvSpPr/>
          <p:nvPr/>
        </p:nvSpPr>
        <p:spPr>
          <a:xfrm>
            <a:off x="685800" y="16002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num-1"/>
          <p:cNvSpPr/>
          <p:nvPr/>
        </p:nvSpPr>
        <p:spPr>
          <a:xfrm>
            <a:off x="914400" y="1828800"/>
            <a:ext cx="438912" cy="43891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</a:rPr>
              <a:t>Recepção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</a:rPr>
              <a:t>Valida formato e integridade</a:t>
            </a:r>
            <a:endParaRPr lang="en-US" sz="1200" dirty="0"/>
          </a:p>
        </p:txBody>
      </p:sp>
      <p:sp>
        <p:nvSpPr>
          <p:cNvPr id="8" name="agente-2"/>
          <p:cNvSpPr/>
          <p:nvPr/>
        </p:nvSpPr>
        <p:spPr>
          <a:xfrm>
            <a:off x="3456432" y="16002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num-2"/>
          <p:cNvSpPr/>
          <p:nvPr/>
        </p:nvSpPr>
        <p:spPr>
          <a:xfrm>
            <a:off x="3685032" y="1828800"/>
            <a:ext cx="438912" cy="43891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85032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85032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</a:rPr>
              <a:t>Extração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85032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</a:rPr>
              <a:t>Texto nativo ou OCR, por página</a:t>
            </a:r>
            <a:endParaRPr lang="en-US" sz="1200" dirty="0"/>
          </a:p>
        </p:txBody>
      </p:sp>
      <p:sp>
        <p:nvSpPr>
          <p:cNvPr id="13" name="agente-3"/>
          <p:cNvSpPr/>
          <p:nvPr/>
        </p:nvSpPr>
        <p:spPr>
          <a:xfrm>
            <a:off x="6227064" y="16002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num-3"/>
          <p:cNvSpPr/>
          <p:nvPr/>
        </p:nvSpPr>
        <p:spPr>
          <a:xfrm>
            <a:off x="6455664" y="1828800"/>
            <a:ext cx="438912" cy="43891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55664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</a:rPr>
              <a:t>Estruturação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</a:rPr>
              <a:t>IA Generativa → JSON validado</a:t>
            </a:r>
            <a:endParaRPr lang="en-US" sz="1200" dirty="0"/>
          </a:p>
        </p:txBody>
      </p:sp>
      <p:sp>
        <p:nvSpPr>
          <p:cNvPr id="18" name="agente-4"/>
          <p:cNvSpPr/>
          <p:nvPr/>
        </p:nvSpPr>
        <p:spPr>
          <a:xfrm>
            <a:off x="8997696" y="16002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num-4"/>
          <p:cNvSpPr/>
          <p:nvPr/>
        </p:nvSpPr>
        <p:spPr>
          <a:xfrm>
            <a:off x="9226296" y="1828800"/>
            <a:ext cx="438912" cy="43891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26296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226296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</a:rPr>
              <a:t>Armazenamento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26296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</a:rPr>
              <a:t>SQLite, com histórico de versões</a:t>
            </a:r>
            <a:endParaRPr lang="en-US" sz="1200" dirty="0"/>
          </a:p>
        </p:txBody>
      </p:sp>
      <p:sp>
        <p:nvSpPr>
          <p:cNvPr id="23" name="agente-5"/>
          <p:cNvSpPr/>
          <p:nvPr/>
        </p:nvSpPr>
        <p:spPr>
          <a:xfrm>
            <a:off x="685800" y="37490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4" name="num-5"/>
          <p:cNvSpPr/>
          <p:nvPr/>
        </p:nvSpPr>
        <p:spPr>
          <a:xfrm>
            <a:off x="914400" y="3977640"/>
            <a:ext cx="438912" cy="43891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3977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4526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</a:rPr>
              <a:t>Comparação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4892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</a:rPr>
              <a:t>Determinística, campo a campo</a:t>
            </a:r>
            <a:endParaRPr lang="en-US" sz="1200" dirty="0"/>
          </a:p>
        </p:txBody>
      </p:sp>
      <p:sp>
        <p:nvSpPr>
          <p:cNvPr id="28" name="agente-6"/>
          <p:cNvSpPr/>
          <p:nvPr/>
        </p:nvSpPr>
        <p:spPr>
          <a:xfrm>
            <a:off x="3456432" y="37490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9" name="num-6"/>
          <p:cNvSpPr/>
          <p:nvPr/>
        </p:nvSpPr>
        <p:spPr>
          <a:xfrm>
            <a:off x="3685032" y="3977640"/>
            <a:ext cx="438912" cy="43891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685032" y="3977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685032" y="4526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</a:rPr>
              <a:t>Relatório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685032" y="4892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</a:rPr>
              <a:t>Sumário executivo com IA</a:t>
            </a:r>
            <a:endParaRPr lang="en-US" sz="1200" dirty="0"/>
          </a:p>
        </p:txBody>
      </p:sp>
      <p:sp>
        <p:nvSpPr>
          <p:cNvPr id="33" name="agente-7"/>
          <p:cNvSpPr/>
          <p:nvPr/>
        </p:nvSpPr>
        <p:spPr>
          <a:xfrm>
            <a:off x="6227064" y="37490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34" name="num-7"/>
          <p:cNvSpPr/>
          <p:nvPr/>
        </p:nvSpPr>
        <p:spPr>
          <a:xfrm>
            <a:off x="6455664" y="3977640"/>
            <a:ext cx="438912" cy="43891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55664" y="3977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455664" y="4526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</a:rPr>
              <a:t>Consulta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455664" y="4892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</a:rPr>
              <a:t>Perguntas em linguagem natural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997696" y="374904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6454F"/>
                </a:solidFill>
              </a:rPr>
              <a:t>Contratos explícitos entre etapas. </a:t>
            </a:r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</a:rPr>
              <a:t>Cada agente recebe e devolve um tipo Pydantic, então trocar o modelo de linguagem ou o motor de OCR não toca em nenhum outro componente.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454F"/>
                </a:solidFill>
              </a:rPr>
              <a:t>A IA extrai e redige — ela não decide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716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</a:rPr>
              <a:t>Se o modelo decidisse qual limite é maior ou qual exclusão é exclusiva, duas execuções sobre os mesmos documentos poderiam divergir — e nenhuma seria auditável.</a:t>
            </a:r>
            <a:endParaRPr lang="en-US" sz="1500" dirty="0"/>
          </a:p>
        </p:txBody>
      </p:sp>
      <p:sp>
        <p:nvSpPr>
          <p:cNvPr id="4" name="det"/>
          <p:cNvSpPr/>
          <p:nvPr/>
        </p:nvSpPr>
        <p:spPr>
          <a:xfrm>
            <a:off x="685800" y="228600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5146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</a:rPr>
              <a:t>Determinístico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01752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</a:rPr>
              <a:t>Comparação numérica entre campos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</a:rPr>
              <a:t>Cláusulas exclusivas por sobreposição de termos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</a:rPr>
              <a:t>Direção do impacto por regra explícita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</a:rPr>
              <a:t>Validação do schema e persistência</a:t>
            </a:r>
            <a:endParaRPr lang="en-US" sz="1350" dirty="0"/>
          </a:p>
        </p:txBody>
      </p:sp>
      <p:sp>
        <p:nvSpPr>
          <p:cNvPr id="7" name="gen"/>
          <p:cNvSpPr/>
          <p:nvPr/>
        </p:nvSpPr>
        <p:spPr>
          <a:xfrm>
            <a:off x="6309360" y="228600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25146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</a:rPr>
              <a:t>IA Generativa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301752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</a:rPr>
              <a:t>Leitura de linguagem jurídica heterogênea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</a:rPr>
              <a:t>Preenchimento do schema, com evidência textual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</a:rPr>
              <a:t>Redação do sumário executivo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</a:rPr>
              <a:t>Resposta a perguntas sobre as fichas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454F"/>
                </a:solidFill>
              </a:rPr>
              <a:t>Execução sobre três apólices D&amp;O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Documentos fictícios criados para o trabalho, com a estrutura e a terminologia usuais do mercado brasileiro. Um deles é gerado sem camada de texto, para exercitar o OCR.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48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5042"/>
                </a:solidFill>
              </a:rPr>
              <a:t>3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108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6454F"/>
                </a:solidFill>
              </a:rPr>
              <a:t>apólices processadas, uma delas digitalizada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2148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5042"/>
                </a:solidFill>
              </a:rPr>
              <a:t>17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3108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6454F"/>
                </a:solidFill>
              </a:rPr>
              <a:t>campos estruturados e comparados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2148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5042"/>
                </a:solidFill>
              </a:rPr>
              <a:t>12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3108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6454F"/>
                </a:solidFill>
              </a:rPr>
              <a:t>divergências identificadas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148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5042"/>
                </a:solidFill>
              </a:rPr>
              <a:t>&lt; 1 min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3108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6454F"/>
                </a:solidFill>
              </a:rPr>
              <a:t>do upload ao quadro comparativo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77640"/>
          <a:ext cx="107899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249424"/>
                <a:gridCol w="2258568"/>
                <a:gridCol w="2258568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Campo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Aurora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Horizonte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Meridiano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Limite máximo de indenização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R$ 25.000.000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R$ 20.000.000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R$ 15.000.000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Prêmio total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R$ 231.800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R$ 184.500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R$ 142.000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Franquia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R$ 100.000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R$ 150.000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R$ 250.000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Retroatividade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Ilimitada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01/03/2019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01/03/2023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Prazo suplementar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72 meses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36 meses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24 meses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454F"/>
                </a:solidFill>
              </a:rPr>
              <a:t>Cada campo extraído carrega sua evidência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716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</a:rPr>
              <a:t>O modelo devolve, junto de cada valor, o trecho literal do documento que o sustenta. O analista audita a extração sem reler a apólice inteira — e a alucinação fica visível.</a:t>
            </a:r>
            <a:endParaRPr lang="en-US" sz="1500" dirty="0"/>
          </a:p>
        </p:txBody>
      </p:sp>
      <p:sp>
        <p:nvSpPr>
          <p:cNvPr id="4" name="evidencia"/>
          <p:cNvSpPr/>
          <p:nvPr/>
        </p:nvSpPr>
        <p:spPr>
          <a:xfrm>
            <a:off x="685800" y="2286000"/>
            <a:ext cx="10789920" cy="1600200"/>
          </a:xfrm>
          <a:prstGeom prst="roundRect">
            <a:avLst>
              <a:gd name="adj" fmla="val 457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5146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limite_maximo_indenizacao: 20000000.00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9260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5042"/>
                </a:solidFill>
              </a:rPr>
              <a:t>evidência: "Limite Máximo de Indenização (LMI): R$ 20.000.000,00 (vinte milhões de reais)"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3756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94"/>
                </a:solidFill>
              </a:rPr>
              <a:t>origem: apolice_do_horizonte.pdf · leitura: texto nativo · validado por schema Pydantic</a:t>
            </a:r>
            <a:endParaRPr lang="en-US" sz="1200" dirty="0"/>
          </a:p>
        </p:txBody>
      </p:sp>
      <p:sp>
        <p:nvSpPr>
          <p:cNvPr id="8" name="cartao-Saída validada"/>
          <p:cNvSpPr/>
          <p:nvPr/>
        </p:nvSpPr>
        <p:spPr>
          <a:xfrm>
            <a:off x="685800" y="41605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4434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</a:rPr>
              <a:t>Saída validada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50292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6454F"/>
                </a:solidFill>
              </a:rPr>
              <a:t>JSON fora do schema falha na validação em vez de virar dado errado no banco.</a:t>
            </a:r>
            <a:endParaRPr lang="en-US" sz="1300" dirty="0"/>
          </a:p>
        </p:txBody>
      </p:sp>
      <p:sp>
        <p:nvSpPr>
          <p:cNvPr id="11" name="cartao-Método registrado"/>
          <p:cNvSpPr/>
          <p:nvPr/>
        </p:nvSpPr>
        <p:spPr>
          <a:xfrm>
            <a:off x="4407408" y="41605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81728" y="4434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</a:rPr>
              <a:t>Método registrado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50292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6454F"/>
                </a:solidFill>
              </a:rPr>
              <a:t>A ficha guarda se veio de texto nativo, de OCR ou da extração heurística.</a:t>
            </a:r>
            <a:endParaRPr lang="en-US" sz="1300" dirty="0"/>
          </a:p>
        </p:txBody>
      </p:sp>
      <p:sp>
        <p:nvSpPr>
          <p:cNvPr id="14" name="cartao-Log por execução"/>
          <p:cNvSpPr/>
          <p:nvPr/>
        </p:nvSpPr>
        <p:spPr>
          <a:xfrm>
            <a:off x="8138160" y="41605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4434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</a:rPr>
              <a:t>Log por execução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50292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6454F"/>
                </a:solidFill>
              </a:rPr>
              <a:t>Cada etapa registra o que fez, com horário — a execução inteira é reconstituível.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454F"/>
                </a:solidFill>
              </a:rPr>
              <a:t>O que ainda não resolve, e para onde vai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630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</a:rPr>
              <a:t>Limitações conhecidas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96596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</a:rPr>
              <a:t>Documento ruim gera ficha ruim: OCR de baixa qualidade propaga erro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</a:rPr>
              <a:t>Cláusulas são comparadas por termos, não por equivalência jurídica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</a:rPr>
              <a:t>Sem tratamento de endossos, múltiplas moedas ou conversão cambial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</a:rPr>
              <a:t>Sem autenticação nem criptografia: não está pronto para dado real de cliente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4630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</a:rPr>
              <a:t>Evolução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96596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</a:rPr>
              <a:t>RAG sobre o texto integral, com citação de página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</a:rPr>
              <a:t>Base de cláusulas padrão para classificar cada redação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</a:rPr>
              <a:t>Comparação entre renovações da mesma apólice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</a:rPr>
              <a:t>Mesmo motor para outros ramos: Cyber, RC Profissional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Documento jurídico vira decisão comparável</a:t>
            </a:r>
            <a:endParaRPr lang="en-US" sz="3200" dirty="0"/>
          </a:p>
        </p:txBody>
      </p:sp>
      <p:sp>
        <p:nvSpPr>
          <p:cNvPr id="3" name="marca-fim"/>
          <p:cNvSpPr/>
          <p:nvPr/>
        </p:nvSpPr>
        <p:spPr>
          <a:xfrm>
            <a:off x="822960" y="1828800"/>
            <a:ext cx="1280160" cy="822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Protótipo funcional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8D1"/>
                </a:solidFill>
              </a:rPr>
              <a:t>Streamlit, sete agentes, OCR e IA Generativa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Código aberto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2834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8D1"/>
                </a:solidFill>
              </a:rPr>
              <a:t>Repositório público no GitHub, licença MIT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Relatório técnico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2834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8D1"/>
                </a:solidFill>
              </a:rPr>
              <a:t>Arquitetura, decisões, limitações e evolução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7BEAE"/>
                </a:solidFill>
              </a:rPr>
              <a:t>Horas de leitura comparativa viram um quadro auditável em menos de um minuto.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Squad 4one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</a:rPr>
              <a:t>github.com/jeancarlosde-lima · InsurMinds · I2A2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surMinds DO">
  <a:themeElements>
    <a:clrScheme name="InsurMinds DO">
      <a:dk1>
        <a:srgbClr val="1A1D21"/>
      </a:dk1>
      <a:lt1>
        <a:srgbClr val="FFFFFF"/>
      </a:lt1>
      <a:dk2>
        <a:srgbClr val="36454F"/>
      </a:dk2>
      <a:lt2>
        <a:srgbClr val="F2F2F2"/>
      </a:lt2>
      <a:accent1>
        <a:srgbClr val="B85042"/>
      </a:accent1>
      <a:accent2>
        <a:srgbClr val="A7BEAE"/>
      </a:accent2>
      <a:accent3>
        <a:srgbClr val="36454F"/>
      </a:accent3>
      <a:accent4>
        <a:srgbClr val="7A8B94"/>
      </a:accent4>
      <a:accent5>
        <a:srgbClr val="E7E8D1"/>
      </a:accent5>
      <a:accent6>
        <a:srgbClr val="212121"/>
      </a:accent6>
      <a:hlink>
        <a:srgbClr val="B85042"/>
      </a:hlink>
      <a:folHlink>
        <a:srgbClr val="7A8B94"/>
      </a:folHlink>
    </a:clrScheme>
    <a:fontScheme name="InsurMinds D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InsurMinds - I2A2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 Inteligente para Analise e Comparacao de Apolices D&amp;O</dc:title>
  <dc:subject>PptxGenJS Presentation</dc:subject>
  <dc:creator>Squad 4one</dc:creator>
  <cp:lastModifiedBy>Squad 4one</cp:lastModifiedBy>
  <cp:revision>1</cp:revision>
  <dcterms:created xsi:type="dcterms:W3CDTF">2026-10-03T21:52:05Z</dcterms:created>
  <dcterms:modified xsi:type="dcterms:W3CDTF">2026-10-03T21:52:05Z</dcterms:modified>
</cp:coreProperties>
</file>